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-5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Segoe UI"/>
              </a:rPr>
              <a:t>DISASTER SHIELD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46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4B8A6"/>
                </a:solidFill>
                <a:latin typeface="Segoe UI"/>
              </a:rPr>
              <a:t>Real-Time Disaster Intelligence · AI-Powered Early Warning · Community Survival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77639"/>
            <a:ext cx="54864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8D3E8"/>
                </a:solidFill>
                <a:latin typeface="Segoe UI"/>
              </a:rPr>
              <a:t>"When every second counts, intelligence saves lives."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645920"/>
            <a:ext cx="2743200" cy="12801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9828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7190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Segoe UI"/>
              </a:rPr>
              <a:t>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148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  <a:latin typeface="Segoe UI"/>
              </a:rPr>
              <a:t>Disaster Coverage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3200400"/>
            <a:ext cx="2743200" cy="12801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3246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3273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Segoe UI"/>
              </a:rPr>
              <a:t>REAL-TIME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  <a:latin typeface="Segoe UI"/>
              </a:rPr>
              <a:t>Live Alert Feeds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4754880"/>
            <a:ext cx="2743200" cy="12801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4800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8280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Segoe UI"/>
              </a:rPr>
              <a:t>AI-DRIVEN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5257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  <a:latin typeface="Segoe UI"/>
              </a:rPr>
              <a:t>Risk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Disasters Are Getting Worse.
And Responses Are Still Too Slow.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50292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3474720" cy="146304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97316"/>
                </a:solidFill>
                <a:latin typeface="Segoe UI"/>
              </a:rPr>
              <a:t>90,000+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3E8"/>
                </a:solidFill>
                <a:latin typeface="Segoe UI"/>
              </a:rPr>
              <a:t>Deaths per year from
natural disasters globally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560320"/>
            <a:ext cx="3474720" cy="146304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97316"/>
                </a:solidFill>
                <a:latin typeface="Segoe UI"/>
              </a:rPr>
              <a:t>$300B+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3375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3E8"/>
                </a:solidFill>
                <a:latin typeface="Segoe UI"/>
              </a:rPr>
              <a:t>Economic losses annually
from climate disasters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560320"/>
            <a:ext cx="3474720" cy="146304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97316"/>
                </a:solidFill>
                <a:latin typeface="Segoe UI"/>
              </a:rPr>
              <a:t>72 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375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3E8"/>
                </a:solidFill>
                <a:latin typeface="Segoe UI"/>
              </a:rPr>
              <a:t>Critical window where
early warning saves lives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Current Gaps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97316"/>
                </a:solidFill>
                <a:latin typeface="Segoe UI"/>
              </a:rPr>
              <a:t>● </a:t>
            </a:r>
            <a:r>
              <a:rPr sz="1400">
                <a:solidFill>
                  <a:srgbClr val="C8D3E8"/>
                </a:solidFill>
                <a:latin typeface="Segoe UI"/>
              </a:rPr>
              <a:t>Fragmented information: no single source for real-time disaster data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97316"/>
                </a:solidFill>
                <a:latin typeface="Segoe UI"/>
              </a:rPr>
              <a:t>● </a:t>
            </a:r>
            <a:r>
              <a:rPr sz="1400">
                <a:solidFill>
                  <a:srgbClr val="C8D3E8"/>
                </a:solidFill>
                <a:latin typeface="Segoe UI"/>
              </a:rPr>
              <a:t>Delayed alerts: communities receive warnings too late to evacuate safely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97316"/>
                </a:solidFill>
                <a:latin typeface="Segoe UI"/>
              </a:rPr>
              <a:t>● </a:t>
            </a:r>
            <a:r>
              <a:rPr sz="1400">
                <a:solidFill>
                  <a:srgbClr val="C8D3E8"/>
                </a:solidFill>
                <a:latin typeface="Segoe UI"/>
              </a:rPr>
              <a:t>No integrated survival guidance: people don't know what to do when disaster strikes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97316"/>
                </a:solidFill>
                <a:latin typeface="Segoe UI"/>
              </a:rPr>
              <a:t>● </a:t>
            </a:r>
            <a:r>
              <a:rPr sz="1400">
                <a:solidFill>
                  <a:srgbClr val="C8D3E8"/>
                </a:solidFill>
                <a:latin typeface="Segoe UI"/>
              </a:rPr>
              <a:t>Limited coordination between emergency services, citizens, and aid agencies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  <a:latin typeface="Segoe U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Disaster Shield AI — One Platform.
Total Situational Awareness.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377440"/>
            <a:ext cx="3657600" cy="17373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2377440"/>
            <a:ext cx="54864" cy="17373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🗺️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Live GIS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803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  <a:latin typeface="Segoe UI"/>
              </a:rPr>
              <a:t>Real-time global disaster
events on an interactive map
with severity layers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377440"/>
            <a:ext cx="3657600" cy="17373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2377440"/>
            <a:ext cx="54864" cy="17373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AI Risk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8803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  <a:latin typeface="Segoe UI"/>
              </a:rPr>
              <a:t>Machine learning models
predict disaster spread,
risk zones, and impact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377440"/>
            <a:ext cx="3657600" cy="17373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377440"/>
            <a:ext cx="54864" cy="17373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Instant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8803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  <a:latin typeface="Segoe UI"/>
              </a:rPr>
              <a:t>Push notifications for
earby disasters with
actionable guidance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89120"/>
            <a:ext cx="3657600" cy="17373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4389120"/>
            <a:ext cx="54864" cy="17373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480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Survival Academy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8920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  <a:latin typeface="Segoe UI"/>
              </a:rPr>
              <a:t>Curated video library
from Red Cross, FEMA,
CAL FIRE &amp; NatGeo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389120"/>
            <a:ext cx="3657600" cy="17373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97680" y="4389120"/>
            <a:ext cx="54864" cy="17373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80560" y="4480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🌤️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Weather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48920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  <a:latin typeface="Segoe UI"/>
              </a:rPr>
              <a:t>Hyperlocal weather feeds
integrated with disaster
threat assessment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389120"/>
            <a:ext cx="3657600" cy="17373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29600" y="4389120"/>
            <a:ext cx="54864" cy="17373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0" y="4480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Facilities Finder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8920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  <a:latin typeface="Segoe UI"/>
              </a:rPr>
              <a:t>Nearest hospitals, shelters
and emergency services
at your fingertips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Segoe U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What Makes Disaster Shield AI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Segoe UI"/>
              </a:rPr>
              <a:t>🌐  Real-Time GIS Disaster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F4444"/>
                </a:solidFill>
                <a:latin typeface="Segoe UI"/>
              </a:rPr>
              <a:t>● </a:t>
            </a:r>
            <a:r>
              <a:rPr sz="1300">
                <a:solidFill>
                  <a:srgbClr val="C8D3E8"/>
                </a:solidFill>
                <a:latin typeface="Segoe UI"/>
              </a:rPr>
              <a:t>Google Maps integration with live disaster event overlays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F4444"/>
                </a:solidFill>
                <a:latin typeface="Segoe UI"/>
              </a:rPr>
              <a:t>● </a:t>
            </a:r>
            <a:r>
              <a:rPr sz="1300">
                <a:solidFill>
                  <a:srgbClr val="C8D3E8"/>
                </a:solidFill>
                <a:latin typeface="Segoe UI"/>
              </a:rPr>
              <a:t>Severity-coded markers: Critical, High, Medium, Low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F4444"/>
                </a:solidFill>
                <a:latin typeface="Segoe UI"/>
              </a:rPr>
              <a:t>● </a:t>
            </a:r>
            <a:r>
              <a:rPr sz="1300">
                <a:solidFill>
                  <a:srgbClr val="C8D3E8"/>
                </a:solidFill>
                <a:latin typeface="Segoe UI"/>
              </a:rPr>
              <a:t>Glassmorphic InfoWindow popups with full disaster telemetry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F4444"/>
                </a:solidFill>
                <a:latin typeface="Segoe UI"/>
              </a:rPr>
              <a:t>● </a:t>
            </a:r>
            <a:r>
              <a:rPr sz="1300">
                <a:solidFill>
                  <a:srgbClr val="C8D3E8"/>
                </a:solidFill>
                <a:latin typeface="Segoe UI"/>
              </a:rPr>
              <a:t>Impact radius visualization and coordinate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Segoe UI"/>
              </a:rPr>
              <a:t>📚  Survival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F4444"/>
                </a:solidFill>
                <a:latin typeface="Segoe UI"/>
              </a:rPr>
              <a:t>● </a:t>
            </a:r>
            <a:r>
              <a:rPr sz="1300">
                <a:solidFill>
                  <a:srgbClr val="C8D3E8"/>
                </a:solidFill>
                <a:latin typeface="Segoe UI"/>
              </a:rPr>
              <a:t>10+ verified video lessons from Red Cross, FEMA &amp; CAL FIRE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F4444"/>
                </a:solidFill>
                <a:latin typeface="Segoe UI"/>
              </a:rPr>
              <a:t>● </a:t>
            </a:r>
            <a:r>
              <a:rPr sz="1300">
                <a:solidFill>
                  <a:srgbClr val="C8D3E8"/>
                </a:solidFill>
                <a:latin typeface="Segoe UI"/>
              </a:rPr>
              <a:t>Filter by disaster type, difficulty, and category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F4444"/>
                </a:solidFill>
                <a:latin typeface="Segoe UI"/>
              </a:rPr>
              <a:t>● </a:t>
            </a:r>
            <a:r>
              <a:rPr sz="1300">
                <a:solidFill>
                  <a:srgbClr val="C8D3E8"/>
                </a:solidFill>
                <a:latin typeface="Segoe UI"/>
              </a:rPr>
              <a:t>Interactive modal with step-by-step emergency guides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F4444"/>
                </a:solidFill>
                <a:latin typeface="Segoe UI"/>
              </a:rPr>
              <a:t>● </a:t>
            </a:r>
            <a:r>
              <a:rPr sz="1300">
                <a:solidFill>
                  <a:srgbClr val="C8D3E8"/>
                </a:solidFill>
                <a:latin typeface="Segoe UI"/>
              </a:rPr>
              <a:t>Emergency checklists, dos &amp; don'ts for every scenario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828800"/>
            <a:ext cx="36576" cy="4754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Segoe UI"/>
              </a:rPr>
              <a:t>🤖  AI-Powered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F4444"/>
                </a:solidFill>
                <a:latin typeface="Segoe UI"/>
              </a:rPr>
              <a:t>● </a:t>
            </a:r>
            <a:r>
              <a:rPr sz="1300">
                <a:solidFill>
                  <a:srgbClr val="C8D3E8"/>
                </a:solidFill>
                <a:latin typeface="Segoe UI"/>
              </a:rPr>
              <a:t>AI assistant for real-time disaster Q&amp;A and survival advice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F4444"/>
                </a:solidFill>
                <a:latin typeface="Segoe UI"/>
              </a:rPr>
              <a:t>● </a:t>
            </a:r>
            <a:r>
              <a:rPr sz="1300">
                <a:solidFill>
                  <a:srgbClr val="C8D3E8"/>
                </a:solidFill>
                <a:latin typeface="Segoe UI"/>
              </a:rPr>
              <a:t>Predictive risk zone modeling based on historical patterns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F4444"/>
                </a:solidFill>
                <a:latin typeface="Segoe UI"/>
              </a:rPr>
              <a:t>● </a:t>
            </a:r>
            <a:r>
              <a:rPr sz="1300">
                <a:solidFill>
                  <a:srgbClr val="C8D3E8"/>
                </a:solidFill>
                <a:latin typeface="Segoe UI"/>
              </a:rPr>
              <a:t>Automated severity classification with ML confidence scores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F4444"/>
                </a:solidFill>
                <a:latin typeface="Segoe UI"/>
              </a:rPr>
              <a:t>● </a:t>
            </a:r>
            <a:r>
              <a:rPr sz="1300">
                <a:solidFill>
                  <a:srgbClr val="C8D3E8"/>
                </a:solidFill>
                <a:latin typeface="Segoe UI"/>
              </a:rPr>
              <a:t>Natural language disaster briefings and threat summaries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297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Segoe UI"/>
              </a:rPr>
              <a:t>🔔  Alerts &amp; Community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7548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F4444"/>
                </a:solidFill>
                <a:latin typeface="Segoe UI"/>
              </a:rPr>
              <a:t>● </a:t>
            </a:r>
            <a:r>
              <a:rPr sz="1300">
                <a:solidFill>
                  <a:srgbClr val="C8D3E8"/>
                </a:solidFill>
                <a:latin typeface="Segoe UI"/>
              </a:rPr>
              <a:t>Location-aware push notifications for nearby disasters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F4444"/>
                </a:solidFill>
                <a:latin typeface="Segoe UI"/>
              </a:rPr>
              <a:t>● </a:t>
            </a:r>
            <a:r>
              <a:rPr sz="1300">
                <a:solidFill>
                  <a:srgbClr val="C8D3E8"/>
                </a:solidFill>
                <a:latin typeface="Segoe UI"/>
              </a:rPr>
              <a:t>Community reporting with photo and severity data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F4444"/>
                </a:solidFill>
                <a:latin typeface="Segoe UI"/>
              </a:rPr>
              <a:t>● </a:t>
            </a:r>
            <a:r>
              <a:rPr sz="1300">
                <a:solidFill>
                  <a:srgbClr val="C8D3E8"/>
                </a:solidFill>
                <a:latin typeface="Segoe UI"/>
              </a:rPr>
              <a:t>Nearest shelters, hospitals, and emergency contacts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F4444"/>
                </a:solidFill>
                <a:latin typeface="Segoe UI"/>
              </a:rPr>
              <a:t>● </a:t>
            </a:r>
            <a:r>
              <a:rPr sz="1300">
                <a:solidFill>
                  <a:srgbClr val="C8D3E8"/>
                </a:solidFill>
                <a:latin typeface="Segoe UI"/>
              </a:rPr>
              <a:t>Offline-ready emergency checklists and evacuation routes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Segoe UI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Built on a Modern, Scalable 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37160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0848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90F1A"/>
                </a:solidFill>
                <a:latin typeface="Segoe UI"/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920240"/>
            <a:ext cx="9784080" cy="6858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5740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React 18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28600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  <a:latin typeface="Segoe UI"/>
              </a:rPr>
              <a:t>Framer Motion · Lucide Icons · Google Maps API · Recharts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1371600" cy="685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9535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90F1A"/>
                </a:solidFill>
                <a:latin typeface="Segoe UI"/>
              </a:rP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788920"/>
            <a:ext cx="9784080" cy="6858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5740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Node.js + Express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15468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  <a:latin typeface="Segoe UI"/>
              </a:rPr>
              <a:t>RESTful API · JWT Auth · Mongoose ODM · Nodemon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1371600" cy="685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8221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90F1A"/>
                </a:solidFill>
                <a:latin typeface="Segoe UI"/>
              </a:rPr>
              <a:t>DATABASE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3657600"/>
            <a:ext cx="9784080" cy="6858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5740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MongoDB Atlas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02336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  <a:latin typeface="Segoe UI"/>
              </a:rPr>
              <a:t>Cloud NoSQL · Geospatial queries · Aggregation pipelines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26279"/>
            <a:ext cx="1371600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69087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90F1A"/>
                </a:solidFill>
                <a:latin typeface="Segoe UI"/>
              </a:rPr>
              <a:t>AI &amp;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4526279"/>
            <a:ext cx="9784080" cy="6858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57400" y="45719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Google Gemini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892039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  <a:latin typeface="Segoe UI"/>
              </a:rPr>
              <a:t>Natural language disaster Q&amp;A · Risk analysis · Threat classification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94960"/>
            <a:ext cx="1371600" cy="685800"/>
          </a:xfrm>
          <a:prstGeom prst="rect">
            <a:avLst/>
          </a:prstGeom>
          <a:solidFill>
            <a:srgbClr val="C8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5595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90F1A"/>
                </a:solidFill>
                <a:latin typeface="Segoe UI"/>
              </a:rPr>
              <a:t>SERVICES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0240" y="5394960"/>
            <a:ext cx="9784080" cy="6858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057400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3rd-Party APIs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76072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  <a:latin typeface="Segoe UI"/>
              </a:rPr>
              <a:t>OpenWeatherMap · ReliefWeb · GDACS · YouTube Data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  <a:latin typeface="Segoe UI"/>
              </a:rPr>
              <a:t>IMPACT &amp;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Who Benefits from Disaster Shield AI?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5577840" cy="20116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55778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👨‍👩‍👧‍👦  General Public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4B8A6"/>
                </a:solidFill>
                <a:latin typeface="Segoe UI"/>
              </a:rPr>
              <a:t>● </a:t>
            </a:r>
            <a:r>
              <a:rPr sz="1200">
                <a:solidFill>
                  <a:srgbClr val="C8D3E8"/>
                </a:solidFill>
                <a:latin typeface="Segoe UI"/>
              </a:rPr>
              <a:t>Get real-time alerts for nearby disasters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4B8A6"/>
                </a:solidFill>
                <a:latin typeface="Segoe UI"/>
              </a:rPr>
              <a:t>● </a:t>
            </a:r>
            <a:r>
              <a:rPr sz="1200">
                <a:solidFill>
                  <a:srgbClr val="C8D3E8"/>
                </a:solidFill>
                <a:latin typeface="Segoe UI"/>
              </a:rPr>
              <a:t>Access survival guides &amp; evacuation routes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4B8A6"/>
                </a:solidFill>
                <a:latin typeface="Segoe UI"/>
              </a:rPr>
              <a:t>● </a:t>
            </a:r>
            <a:r>
              <a:rPr sz="1200">
                <a:solidFill>
                  <a:srgbClr val="C8D3E8"/>
                </a:solidFill>
                <a:latin typeface="Segoe UI"/>
              </a:rPr>
              <a:t>Find nearest shelters, hospitals &amp; safe zones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920240"/>
            <a:ext cx="5577840" cy="20116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55778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🏛️  Government &amp; NDRF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4B8A6"/>
                </a:solidFill>
                <a:latin typeface="Segoe UI"/>
              </a:rPr>
              <a:t>● </a:t>
            </a:r>
            <a:r>
              <a:rPr sz="1200">
                <a:solidFill>
                  <a:srgbClr val="C8D3E8"/>
                </a:solidFill>
                <a:latin typeface="Segoe UI"/>
              </a:rPr>
              <a:t>Monitor disaster events across regions in real-time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4B8A6"/>
                </a:solidFill>
                <a:latin typeface="Segoe UI"/>
              </a:rPr>
              <a:t>● </a:t>
            </a:r>
            <a:r>
              <a:rPr sz="1200">
                <a:solidFill>
                  <a:srgbClr val="C8D3E8"/>
                </a:solidFill>
                <a:latin typeface="Segoe UI"/>
              </a:rPr>
              <a:t>Coordinate emergency response operations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4B8A6"/>
                </a:solidFill>
                <a:latin typeface="Segoe UI"/>
              </a:rPr>
              <a:t>● </a:t>
            </a:r>
            <a:r>
              <a:rPr sz="1200">
                <a:solidFill>
                  <a:srgbClr val="C8D3E8"/>
                </a:solidFill>
                <a:latin typeface="Segoe UI"/>
              </a:rPr>
              <a:t>Deploy resources based on AI-predicted impact zones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06240"/>
            <a:ext cx="5577840" cy="20116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4206240"/>
            <a:ext cx="55778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📰  Media &amp; Journalists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0060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4B8A6"/>
                </a:solidFill>
                <a:latin typeface="Segoe UI"/>
              </a:rPr>
              <a:t>● </a:t>
            </a:r>
            <a:r>
              <a:rPr sz="1200">
                <a:solidFill>
                  <a:srgbClr val="C8D3E8"/>
                </a:solidFill>
                <a:latin typeface="Segoe UI"/>
              </a:rPr>
              <a:t>Real-time verified disaster data for reporting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4B8A6"/>
                </a:solidFill>
                <a:latin typeface="Segoe UI"/>
              </a:rPr>
              <a:t>● </a:t>
            </a:r>
            <a:r>
              <a:rPr sz="1200">
                <a:solidFill>
                  <a:srgbClr val="C8D3E8"/>
                </a:solidFill>
                <a:latin typeface="Segoe UI"/>
              </a:rPr>
              <a:t>GIS-mapped incident locations and severity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4B8A6"/>
                </a:solidFill>
                <a:latin typeface="Segoe UI"/>
              </a:rPr>
              <a:t>● </a:t>
            </a:r>
            <a:r>
              <a:rPr sz="1200">
                <a:solidFill>
                  <a:srgbClr val="C8D3E8"/>
                </a:solidFill>
                <a:latin typeface="Segoe UI"/>
              </a:rPr>
              <a:t>Historical trends and disaster analytics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206240"/>
            <a:ext cx="5577840" cy="20116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5778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🏫  Schools &amp; NGOs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80060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4B8A6"/>
                </a:solidFill>
                <a:latin typeface="Segoe UI"/>
              </a:rPr>
              <a:t>● </a:t>
            </a:r>
            <a:r>
              <a:rPr sz="1200">
                <a:solidFill>
                  <a:srgbClr val="C8D3E8"/>
                </a:solidFill>
                <a:latin typeface="Segoe UI"/>
              </a:rPr>
              <a:t>Disaster preparedness training via Survival Academy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4B8A6"/>
                </a:solidFill>
                <a:latin typeface="Segoe UI"/>
              </a:rPr>
              <a:t>● </a:t>
            </a:r>
            <a:r>
              <a:rPr sz="1200">
                <a:solidFill>
                  <a:srgbClr val="C8D3E8"/>
                </a:solidFill>
                <a:latin typeface="Segoe UI"/>
              </a:rPr>
              <a:t>Community awareness and drill planning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4B8A6"/>
                </a:solidFill>
                <a:latin typeface="Segoe UI"/>
              </a:rPr>
              <a:t>● </a:t>
            </a:r>
            <a:r>
              <a:rPr sz="1200">
                <a:solidFill>
                  <a:srgbClr val="C8D3E8"/>
                </a:solidFill>
                <a:latin typeface="Segoe UI"/>
              </a:rPr>
              <a:t>Educational resources verified by Red Cross &amp; FEMA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System Architecture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356616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0F1A"/>
                </a:solidFill>
                <a:latin typeface="Segoe UI"/>
              </a:rPr>
              <a:t>CLIENT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3566160" cy="27432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3200400" cy="438912"/>
          </a:xfrm>
          <a:prstGeom prst="rect">
            <a:avLst/>
          </a:prstGeom>
          <a:solidFill>
            <a:srgbClr val="09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React 18 / Vite SPA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3200400" cy="438912"/>
          </a:xfrm>
          <a:prstGeom prst="rect">
            <a:avLst/>
          </a:prstGeom>
          <a:solidFill>
            <a:srgbClr val="09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Google Maps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94760"/>
            <a:ext cx="3200400" cy="438912"/>
          </a:xfrm>
          <a:prstGeom prst="rect">
            <a:avLst/>
          </a:prstGeom>
          <a:solidFill>
            <a:srgbClr val="09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Framer Motion 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89120"/>
            <a:ext cx="3200400" cy="438912"/>
          </a:xfrm>
          <a:prstGeom prst="rect">
            <a:avLst/>
          </a:prstGeom>
          <a:solidFill>
            <a:srgbClr val="09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Survival Academy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011680"/>
            <a:ext cx="356616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20574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0F1A"/>
                </a:solidFill>
                <a:latin typeface="Segoe UI"/>
              </a:rPr>
              <a:t>SERVER 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468880"/>
            <a:ext cx="3566160" cy="27432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0" y="2606040"/>
            <a:ext cx="3200400" cy="438912"/>
          </a:xfrm>
          <a:prstGeom prst="rect">
            <a:avLst/>
          </a:prstGeom>
          <a:solidFill>
            <a:srgbClr val="09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60" y="26517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Node.js / Express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3200400"/>
            <a:ext cx="3200400" cy="438912"/>
          </a:xfrm>
          <a:prstGeom prst="rect">
            <a:avLst/>
          </a:prstGeom>
          <a:solidFill>
            <a:srgbClr val="09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60" y="32461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JWT Authentication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794760"/>
            <a:ext cx="3200400" cy="438912"/>
          </a:xfrm>
          <a:prstGeom prst="rect">
            <a:avLst/>
          </a:prstGeom>
          <a:solidFill>
            <a:srgbClr val="09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38404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AI Gemini Module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4389120"/>
            <a:ext cx="3200400" cy="438912"/>
          </a:xfrm>
          <a:prstGeom prst="rect">
            <a:avLst/>
          </a:prstGeom>
          <a:solidFill>
            <a:srgbClr val="09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9160" y="44348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REST Endpoints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2011680"/>
            <a:ext cx="356616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20574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0F1A"/>
                </a:solidFill>
                <a:latin typeface="Segoe UI"/>
              </a:rPr>
              <a:t>DATA LAYER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2468880"/>
            <a:ext cx="3566160" cy="27432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503920" y="2606040"/>
            <a:ext cx="3200400" cy="438912"/>
          </a:xfrm>
          <a:prstGeom prst="rect">
            <a:avLst/>
          </a:prstGeom>
          <a:solidFill>
            <a:srgbClr val="09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41080" y="26517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MongoDB Atlas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3200400"/>
            <a:ext cx="3200400" cy="438912"/>
          </a:xfrm>
          <a:prstGeom prst="rect">
            <a:avLst/>
          </a:prstGeom>
          <a:solidFill>
            <a:srgbClr val="09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41080" y="32461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Mongoose ODM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3794760"/>
            <a:ext cx="3200400" cy="438912"/>
          </a:xfrm>
          <a:prstGeom prst="rect">
            <a:avLst/>
          </a:prstGeom>
          <a:solidFill>
            <a:srgbClr val="09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41080" y="38404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Disaster Data Cache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4389120"/>
            <a:ext cx="3200400" cy="438912"/>
          </a:xfrm>
          <a:prstGeom prst="rect">
            <a:avLst/>
          </a:prstGeom>
          <a:solidFill>
            <a:srgbClr val="09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41080" y="44348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Survival Library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  <a:latin typeface="Segoe UI"/>
              </a:rPr>
              <a:t>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  <a:latin typeface="Segoe UI"/>
              </a:rPr>
              <a:t>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Segoe UI"/>
              </a:rPr>
              <a:t>EXTERNAL DATA SOURCES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806440"/>
            <a:ext cx="2103120" cy="6400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58704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3E8"/>
                </a:solidFill>
                <a:latin typeface="Segoe UI"/>
              </a:rPr>
              <a:t>🌍 GDACS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88920" y="5806440"/>
            <a:ext cx="2103120" cy="6400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80360" y="58704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3E8"/>
                </a:solidFill>
                <a:latin typeface="Segoe UI"/>
              </a:rPr>
              <a:t>🌤️ OpenWeatherMap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5806440"/>
            <a:ext cx="2103120" cy="6400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12080" y="58704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3E8"/>
                </a:solidFill>
                <a:latin typeface="Segoe UI"/>
              </a:rPr>
              <a:t>📋 ReliefWeb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52359" y="5806440"/>
            <a:ext cx="2103120" cy="6400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43799" y="58704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3E8"/>
                </a:solidFill>
                <a:latin typeface="Segoe UI"/>
              </a:rPr>
              <a:t>🤖 Google Gemini AI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84080" y="5806440"/>
            <a:ext cx="2103120" cy="6400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875520" y="58704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3E8"/>
                </a:solidFill>
                <a:latin typeface="Segoe UI"/>
              </a:rPr>
              <a:t>📹 YouTube 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88952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What's Next for Disaster Shield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3657600" cy="43891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36576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12140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Segoe UI"/>
              </a:rPr>
              <a:t>Phase 1
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3E8"/>
                </a:solidFill>
                <a:latin typeface="Segoe UI"/>
              </a:rPr>
              <a:t>✅ Real-time GIS disaster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9300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3E8"/>
                </a:solidFill>
                <a:latin typeface="Segoe UI"/>
              </a:rPr>
              <a:t>✅ Google Maps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5137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3E8"/>
                </a:solidFill>
                <a:latin typeface="Segoe UI"/>
              </a:rPr>
              <a:t>✅ Survival Academy video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0974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3E8"/>
                </a:solidFill>
                <a:latin typeface="Segoe UI"/>
              </a:rPr>
              <a:t>✅ AI-powered disaster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6811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3E8"/>
                </a:solidFill>
                <a:latin typeface="Segoe UI"/>
              </a:rPr>
              <a:t>✅ Weather intelligence module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11680"/>
            <a:ext cx="3657600" cy="43891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2011680"/>
            <a:ext cx="36576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212140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Segoe UI"/>
              </a:rPr>
              <a:t>Phase 2
IN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834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3E8"/>
                </a:solidFill>
                <a:latin typeface="Segoe UI"/>
              </a:rPr>
              <a:t>🔧 Mobile app (React Native)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49300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3E8"/>
                </a:solidFill>
                <a:latin typeface="Segoe UI"/>
              </a:rPr>
              <a:t>🔧 Community disaster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15137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3E8"/>
                </a:solidFill>
                <a:latin typeface="Segoe UI"/>
              </a:rPr>
              <a:t>🔧 Push notification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80974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3E8"/>
                </a:solidFill>
                <a:latin typeface="Segoe UI"/>
              </a:rPr>
              <a:t>🔧 Offline emergency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46811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3E8"/>
                </a:solidFill>
                <a:latin typeface="Segoe UI"/>
              </a:rPr>
              <a:t>🔧 Multi-language support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011680"/>
            <a:ext cx="3657600" cy="438912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2011680"/>
            <a:ext cx="36576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0" y="212140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Segoe UI"/>
              </a:rPr>
              <a:t>Phase 3
PLANNED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834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3E8"/>
                </a:solidFill>
                <a:latin typeface="Segoe UI"/>
              </a:rPr>
              <a:t>🚀 Satellite imagery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49300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3E8"/>
                </a:solidFill>
                <a:latin typeface="Segoe UI"/>
              </a:rPr>
              <a:t>🚀 Drone coordination module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5137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3E8"/>
                </a:solidFill>
                <a:latin typeface="Segoe UI"/>
              </a:rPr>
              <a:t>🚀 Government API partnerships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0974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3E8"/>
                </a:solidFill>
                <a:latin typeface="Segoe UI"/>
              </a:rPr>
              <a:t>🚀 Predictive AI model (v2)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46811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3E8"/>
                </a:solidFill>
                <a:latin typeface="Segoe UI"/>
              </a:rPr>
              <a:t>🚀 Global NGO data network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Segoe UI"/>
              </a:rPr>
              <a:t>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5448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Segoe UI"/>
              </a:rPr>
              <a:t>DISASTER SHIELD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42316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4B8A6"/>
                </a:solidFill>
                <a:latin typeface="Segoe UI"/>
              </a:rPr>
              <a:t>Protecting Communities. Saving Lives. Powered by Intelligence.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108960"/>
            <a:ext cx="487375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2377440" cy="6400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44728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🌍 Global Coverage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3383280"/>
            <a:ext cx="2377440" cy="6400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344728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⚡ Real-Time Alerts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383280"/>
            <a:ext cx="2377440" cy="6400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344728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🤖 AI-Powered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383280"/>
            <a:ext cx="2377440" cy="64008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344728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📚 Survival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29768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074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8D3E8"/>
                </a:solidFill>
                <a:latin typeface="Segoe UI"/>
              </a:rPr>
              <a:t>Questions &amp;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6692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Segoe UI"/>
              </a:rPr>
              <a:t>github.com/Disaster-Shield-AI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548640" cy="457200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TEAM &amp;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0467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D4FF"/>
                </a:solidFill>
              </a:rPr>
              <a:t>The people behind Disaster Shield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2651760" cy="21031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2651760" cy="457200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79" y="1463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👨‍💻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45389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Full-Stack
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6596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React, Node.js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1343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MongoDB, REST 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609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System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417320"/>
            <a:ext cx="2651760" cy="21031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1417320"/>
            <a:ext cx="2651760" cy="457200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37560" y="1463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145389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AI / ML
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196596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Google Gemini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31343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NLP, Risk Modeling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6609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Data Pipelines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417320"/>
            <a:ext cx="2651760" cy="21031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1417320"/>
            <a:ext cx="2651760" cy="457200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1463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145389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UI/UX
Designer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96596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Figma, Framer Motion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31343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Glasmorphism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6609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User Research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794760"/>
            <a:ext cx="2651760" cy="21031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3794760"/>
            <a:ext cx="2651760" cy="457200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79" y="38404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83133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GIS &amp; Data
Specialist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34340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Google Maps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69087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GDACS, ReliefWeb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03834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Geospatial Analysis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3794760"/>
            <a:ext cx="2651760" cy="21031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46120" y="3794760"/>
            <a:ext cx="2651760" cy="457200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37560" y="38404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383133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DevOps &amp;
Security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434340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Cloud Deployment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469087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JWT Auth, HTTPS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03834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CI/CD Pipelines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D4FF"/>
                </a:solidFill>
              </a:rPr>
              <a:t>Built with passion. Driven by purpose. United by mission.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548640" cy="457200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0467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D4FF"/>
                </a:solidFill>
              </a:rPr>
              <a:t>Massive and growing addressable 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3931920" cy="21031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3931920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6002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B300"/>
                </a:solidFill>
              </a:rPr>
              <a:t>$223B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Global Disaster
Management Market
by 2030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417320"/>
            <a:ext cx="3931920" cy="21031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46320" y="1417320"/>
            <a:ext cx="3931920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16002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B300"/>
                </a:solidFill>
              </a:rPr>
              <a:t>13.7%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37744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CAGR growth rate
in disaster tech
sector (2023–2030)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3931920" cy="21031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3931920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B300"/>
                </a:solidFill>
              </a:rPr>
              <a:t>5.2B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0060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Smartphone users
who need reliable
disaster alerts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840480"/>
            <a:ext cx="3931920" cy="21031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46320" y="3840480"/>
            <a:ext cx="3931920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0" y="40233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B300"/>
                </a:solidFill>
              </a:rPr>
              <a:t>195+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80060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Countries lacking
integrated real-time
disaster platforms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825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D4FF"/>
                </a:solidFill>
              </a:rPr>
              <a:t>Disaster Shield AI is positioned to capture the underserved community resilience segment.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548640" cy="457200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0467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D4FF"/>
                </a:solidFill>
              </a:rPr>
              <a:t>Where Disaster Shield AI stands apart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" y="1371600"/>
            <a:ext cx="8778240" cy="411480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" y="140817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4081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B300"/>
                </a:solidFill>
              </a:rPr>
              <a:t>Disaster
Shield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4081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FEMA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4081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ReliefWeb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4081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GDACS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83080"/>
            <a:ext cx="8778240" cy="475488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8600" y="181965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D4FF"/>
                </a:solidFill>
              </a:rPr>
              <a:t>Real-Time GIS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181965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81965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181965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181965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258568"/>
            <a:ext cx="8778240" cy="475488"/>
          </a:xfrm>
          <a:prstGeom prst="rect">
            <a:avLst/>
          </a:prstGeom>
          <a:solidFill>
            <a:srgbClr val="132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8600" y="2295144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D4FF"/>
                </a:solidFill>
              </a:rPr>
              <a:t>AI-Powered Q&amp;A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229514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29514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229514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229514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734056"/>
            <a:ext cx="8778240" cy="475488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8600" y="277063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D4FF"/>
                </a:solidFill>
              </a:rPr>
              <a:t>Survival Video Academy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277063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277063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277063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277063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3209544"/>
            <a:ext cx="8778240" cy="475488"/>
          </a:xfrm>
          <a:prstGeom prst="rect">
            <a:avLst/>
          </a:prstGeom>
          <a:solidFill>
            <a:srgbClr val="132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28600" y="3246120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D4FF"/>
                </a:solidFill>
              </a:rPr>
              <a:t>Community Reporting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324612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324612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324612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324612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3685032"/>
            <a:ext cx="8778240" cy="475488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28600" y="3721608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D4FF"/>
                </a:solidFill>
              </a:rPr>
              <a:t>Offline Emergency Checklist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372160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372160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372160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372160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4160520"/>
            <a:ext cx="8778240" cy="475488"/>
          </a:xfrm>
          <a:prstGeom prst="rect">
            <a:avLst/>
          </a:prstGeom>
          <a:solidFill>
            <a:srgbClr val="132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28600" y="419709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D4FF"/>
                </a:solidFill>
              </a:rPr>
              <a:t>Multi-Hazard Coverage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1800" y="419709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419709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419709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419709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4636008"/>
            <a:ext cx="8778240" cy="475488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28600" y="4672584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D4FF"/>
                </a:solidFill>
              </a:rPr>
              <a:t>Weather + Disaster Fusion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71800" y="467258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4840" y="467258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97880" y="467258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60920" y="467258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111496"/>
            <a:ext cx="8778240" cy="475488"/>
          </a:xfrm>
          <a:prstGeom prst="rect">
            <a:avLst/>
          </a:prstGeom>
          <a:solidFill>
            <a:srgbClr val="132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8600" y="514807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D4FF"/>
                </a:solidFill>
              </a:rPr>
              <a:t>Open API / Developer Friendly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71800" y="514807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4840" y="514807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97880" y="514807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20" y="514807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4C8"/>
                </a:solidFill>
              </a:rPr>
              <a:t>✅ = Full Support  |  ⚠️ = Partial  |  ❌ = Not Available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548640" cy="457200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SECURITY &amp; PRIVACY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0467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D4FF"/>
                </a:solidFill>
              </a:rPr>
              <a:t>Built with trust at the 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2743200" cy="2286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2743200" cy="438912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4081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🔐  JWT 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874519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Stateless token-based 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1945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Secure route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5146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Token expiry &amp; refresh 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371600"/>
            <a:ext cx="2743200" cy="2286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0" y="1371600"/>
            <a:ext cx="2743200" cy="438912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14081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🔒  HTTPS / TLS Encryption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874519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All traffic encrypted in transit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1945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MongoDB Atlas encrypted at 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5146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Secure API key management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371600"/>
            <a:ext cx="2743200" cy="2286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0" y="1371600"/>
            <a:ext cx="2743200" cy="438912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14081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🛡️  Input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874519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Server-side schema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1945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Mongoose strict mode schemas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5146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XSS &amp; injection protection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858768"/>
            <a:ext cx="2743200" cy="2286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4320" y="3858768"/>
            <a:ext cx="2743200" cy="438912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38953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🔑  Environment Secrets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436168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All credentials via .env 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468172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No keys hardcoded in 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50017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Secrets rotated regularly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3858768"/>
            <a:ext cx="2743200" cy="2286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0" y="3858768"/>
            <a:ext cx="2743200" cy="438912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91840" y="38953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📋  Compliance Ready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436168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GDPR-aligned data handling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468172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User consent for location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50017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Minimal PII collection policy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858768"/>
            <a:ext cx="2743200" cy="2286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26480" y="3858768"/>
            <a:ext cx="2743200" cy="438912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0" y="38953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☁️  Cloud Resilience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36168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MongoDB Atlas 99.95% uptime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468172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Auto-failover &amp; backups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50017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Multi-region ready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28600"/>
            <a:ext cx="548640" cy="457200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LIVE DEMO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0467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D4FF"/>
                </a:solidFill>
              </a:rPr>
              <a:t>Key screens from the running application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8595360" cy="1143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822960" cy="1143000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158191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3990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Interactive Disaster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7830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Color-coded severity pins overlay real-time GDACS events onto Google Maps with impact radius circles and full telemetry popups.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06039"/>
            <a:ext cx="8595360" cy="1143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606039"/>
            <a:ext cx="822960" cy="1143000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286207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67919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Survival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063239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Filterable library of 10+ Red Cross, FEMA &amp; CAL FIRE videos with category chips, difficulty tags, and step-by-step emergency guides.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86200"/>
            <a:ext cx="8595360" cy="1143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3886200"/>
            <a:ext cx="822960" cy="1143000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414223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9593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AI Disaster Assistant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3434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Gemini-powered chatbot answers natural-language questions, generates threat briefings, and offers survival advice 24/7.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166359"/>
            <a:ext cx="8595360" cy="1143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5166359"/>
            <a:ext cx="822960" cy="1143000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542239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🌤️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2395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</a:rPr>
              <a:t>Weather + Risk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623559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Hyperlocal OpenWeatherMap feeds fused with disaster risk scores show current conditions alongside threat probability heatmaps.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0" y="27432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JOIN THE 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D4FF"/>
                </a:solidFill>
              </a:rPr>
              <a:t>Disaster Shield AI is open to collaboration, partnerships &amp; investment.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2651760" cy="2286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2651760" cy="457200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🤝 Partner With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NGOs, governments &amp; agencies looking to
integrate real-time disaster intelligence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651760"/>
            <a:ext cx="2651760" cy="2286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2651760"/>
            <a:ext cx="2651760" cy="457200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80" y="2688336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💡 Contribute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2004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Open-source contributors welcome:
github.com/Disaster-Shield-AI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651760"/>
            <a:ext cx="2651760" cy="2286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2651760"/>
            <a:ext cx="2651760" cy="457200"/>
          </a:xfrm>
          <a:prstGeom prst="rect">
            <a:avLst/>
          </a:prstGeom>
          <a:solidFill>
            <a:srgbClr val="1A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2688336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📩 Get In Touch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004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disaster.shield.ai@gmail.com
Reach out for pilots, demos &amp; integrations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B300"/>
                </a:solidFill>
              </a:rPr>
              <a:t>"When every second counts, intelligence saves lives."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15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4C8"/>
                </a:solidFill>
              </a:rPr>
              <a:t>🌍 Global Coverage   ⚡ Real-Time Alerts   🤖 AI-Powered   📚 Survival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AB4C8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1213</Words>
  <Application>Microsoft Office PowerPoint</Application>
  <PresentationFormat>Custom</PresentationFormat>
  <Paragraphs>310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2026-08-21T18:01:05Z</dcterms:modified>
  <cp:category/>
</cp:coreProperties>
</file>